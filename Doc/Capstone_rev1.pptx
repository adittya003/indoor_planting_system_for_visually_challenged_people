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5AFCD4C-C9FB-49A6-9865-79948F1D44E9}">
  <a:tblStyle styleId="{45AFCD4C-C9FB-49A6-9865-79948F1D44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658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2e3939544b_0_5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2e3939544b_0_5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283bcf99f8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283bcf99f8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283bcf99f8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283bcf99f8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283bcf99f8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283bcf99f8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2844122943_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2844122943_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2844122943_5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2844122943_5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2844122943_5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2844122943_5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2844122943_5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2844122943_5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2844122943_5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2844122943_5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2844122943_5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2844122943_5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283bcf99f8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283bcf99f8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283bcf99f8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283bcf99f8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284412294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284412294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2844122943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2844122943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2844122943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2844122943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2844122943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2844122943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2844122943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2844122943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2844122943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2844122943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2844122943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2844122943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2844122943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2844122943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2844122943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2844122943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2844122943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2844122943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2844122943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2844122943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2844122943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2844122943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283bcf99f8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283bcf99f8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283bcf99f8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283bcf99f8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283bcf99f8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283bcf99f8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Verdana"/>
                <a:ea typeface="Verdana"/>
                <a:cs typeface="Verdana"/>
                <a:sym typeface="Verdana"/>
              </a:rPr>
              <a:t>Affordable automated indoor plant monitoring system for visually impaired</a:t>
            </a:r>
            <a:endParaRPr sz="40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5595225" y="3739050"/>
            <a:ext cx="33705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Aditi Singh	21BCE1376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Adittya Narayan	21BCE1672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Anjana S A	21BCE5632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08000" y="3780125"/>
            <a:ext cx="5913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Dr. Uma Maheshwari 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Verdana"/>
                <a:ea typeface="Verdana"/>
                <a:cs typeface="Verdana"/>
                <a:sym typeface="Verdana"/>
              </a:rPr>
              <a:t>Introduction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Verdana"/>
              <a:buAutoNum type="arabicPeriod"/>
            </a:pPr>
            <a:r>
              <a:rPr lang="en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Indoor gardening promotes sustainability and healthier lifestyles but is often inaccessible to visually impaired individuals.</a:t>
            </a:r>
            <a:endParaRPr sz="1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Verdana"/>
              <a:buAutoNum type="arabicPeriod"/>
            </a:pPr>
            <a:r>
              <a:rPr lang="en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Existing solutions rely heavily on visual feedback, making them exclusionary.</a:t>
            </a:r>
            <a:endParaRPr sz="1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Verdana"/>
              <a:buAutoNum type="arabicPeriod"/>
            </a:pPr>
            <a:r>
              <a:rPr lang="en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Focused only on basic care tasks like water and light monitoring.</a:t>
            </a:r>
            <a:endParaRPr sz="1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proposed solution is intended to address the following key research questions:</a:t>
            </a:r>
            <a:endParaRPr sz="1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Verdana"/>
              <a:buAutoNum type="arabicPeriod"/>
            </a:pPr>
            <a:r>
              <a:rPr lang="en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How can IoT and machine learning technologies be integrated to develop a system that autonomously monitors plant growth and health for visually impaired users?</a:t>
            </a:r>
            <a:endParaRPr sz="1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Verdana"/>
              <a:buAutoNum type="arabicPeriod"/>
            </a:pPr>
            <a:r>
              <a:rPr lang="en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What visually impaired-friendly communication methods can be integrated to provide real-time updates about plant health and growth and provide security alerts?</a:t>
            </a:r>
            <a:endParaRPr sz="1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Verdana"/>
              <a:buAutoNum type="arabicPeriod"/>
            </a:pPr>
            <a:r>
              <a:rPr lang="en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How can the system be designed that can be affordable and accessible to use by visually impaired?</a:t>
            </a:r>
            <a:endParaRPr sz="1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>
                <a:latin typeface="Verdana"/>
                <a:ea typeface="Verdana"/>
                <a:cs typeface="Verdana"/>
                <a:sym typeface="Verdana"/>
              </a:rPr>
              <a:t>Background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Verdana"/>
              <a:buAutoNum type="arabicPeriod"/>
            </a:pPr>
            <a:r>
              <a:rPr lang="en" sz="15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Growing Interest in Indoor Gardening</a:t>
            </a:r>
            <a:endParaRPr sz="15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9144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Verdana"/>
              <a:buChar char="●"/>
            </a:pPr>
            <a:r>
              <a:rPr lang="en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Urbanization and limited outdoor spaces are driving the popularity of indoor gardening.</a:t>
            </a:r>
            <a:endParaRPr sz="1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9144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Verdana"/>
              <a:buChar char="●"/>
            </a:pPr>
            <a:r>
              <a:rPr lang="en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It promotes sustainability, access to fresh produce, and mental well-being.</a:t>
            </a:r>
            <a:endParaRPr sz="1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Verdana"/>
              <a:buAutoNum type="arabicPeriod"/>
            </a:pPr>
            <a:r>
              <a:rPr lang="en" sz="15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Challenges for Visually Impaired Individual</a:t>
            </a:r>
            <a:endParaRPr sz="15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9144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Verdana"/>
              <a:buChar char="●"/>
            </a:pPr>
            <a:r>
              <a:rPr lang="en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Existing gardening systems rely heavily on visual cues like graphs, charts, and notifications.</a:t>
            </a:r>
            <a:endParaRPr sz="1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9144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Verdana"/>
              <a:buChar char="●"/>
            </a:pPr>
            <a:r>
              <a:rPr lang="en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These systems exclude visually impaired users from fully participating in indoor gardening.</a:t>
            </a:r>
            <a:endParaRPr sz="1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Verdana"/>
              <a:buAutoNum type="arabicPeriod"/>
            </a:pPr>
            <a:r>
              <a:rPr lang="en" sz="15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Gaps in Current Solutions</a:t>
            </a:r>
            <a:endParaRPr sz="15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9144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Verdana"/>
              <a:buChar char="●"/>
            </a:pPr>
            <a:r>
              <a:rPr lang="en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Most smart gardening systems lack inclusivity, affordability, and multifunctionality.</a:t>
            </a:r>
            <a:endParaRPr sz="1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9144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Verdana"/>
              <a:buChar char="●"/>
            </a:pPr>
            <a:r>
              <a:rPr lang="en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There is no integration of security features to address personal safety.</a:t>
            </a:r>
            <a:endParaRPr sz="15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>
                <a:latin typeface="Verdana"/>
                <a:ea typeface="Verdana"/>
                <a:cs typeface="Verdana"/>
                <a:sym typeface="Verdana"/>
              </a:rPr>
              <a:t>Context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AutoNum type="arabicPeriod"/>
            </a:pPr>
            <a:r>
              <a:rPr lang="en" sz="16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Advancements in IoT and Smart Technology:</a:t>
            </a:r>
            <a:r>
              <a:rPr lang="en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sz="1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●"/>
            </a:pPr>
            <a:r>
              <a:rPr lang="en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IoT and machine learning technologies can enhance indoor gardening by providing real-time feedback and automation.</a:t>
            </a:r>
            <a:endParaRPr sz="1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AutoNum type="arabicPeriod"/>
            </a:pPr>
            <a:r>
              <a:rPr lang="en" sz="16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Need for Inclusivity and Accessibility:</a:t>
            </a:r>
            <a:r>
              <a:rPr lang="en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sz="1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●"/>
            </a:pPr>
            <a:r>
              <a:rPr lang="en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Technologies must cater to diverse user groups, especially those with disabilities.</a:t>
            </a:r>
            <a:endParaRPr sz="1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AutoNum type="arabicPeriod"/>
            </a:pPr>
            <a:r>
              <a:rPr lang="en" sz="16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Personal Security in Indoor Spaces:</a:t>
            </a:r>
            <a:r>
              <a:rPr lang="en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sz="1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●"/>
            </a:pPr>
            <a:r>
              <a:rPr lang="en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Enhances the safety and confidence of visually impaired individuals.</a:t>
            </a:r>
            <a:endParaRPr sz="1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latin typeface="Verdana"/>
                <a:ea typeface="Verdana"/>
                <a:cs typeface="Verdana"/>
                <a:sym typeface="Verdana"/>
              </a:rPr>
              <a:t>Significance of the Study</a:t>
            </a:r>
            <a:endParaRPr sz="25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AutoNum type="arabicPeriod"/>
            </a:pPr>
            <a:r>
              <a:rPr lang="en" sz="16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Inclusive Gardening Solutions:</a:t>
            </a:r>
            <a:r>
              <a:rPr lang="en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sz="1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●"/>
            </a:pPr>
            <a:r>
              <a:rPr lang="en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Reduces barriers for visually impaired individuals by offering accessible and user-friendly systems.</a:t>
            </a:r>
            <a:endParaRPr sz="1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AutoNum type="arabicPeriod"/>
            </a:pPr>
            <a:r>
              <a:rPr lang="en" sz="16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Affordable and Practical Technology:</a:t>
            </a:r>
            <a:endParaRPr sz="16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●"/>
            </a:pPr>
            <a:r>
              <a:rPr lang="en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Ensures affordability without compromising functionality.</a:t>
            </a:r>
            <a:endParaRPr sz="1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AutoNum type="arabicPeriod"/>
            </a:pPr>
            <a:r>
              <a:rPr lang="en" sz="16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Enhanced Safety and Independence:</a:t>
            </a:r>
            <a:r>
              <a:rPr lang="en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sz="1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●"/>
            </a:pPr>
            <a:r>
              <a:rPr lang="en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Security alerts empower visually impaired individuals to live more independently</a:t>
            </a:r>
            <a:endParaRPr sz="16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5" name="Google Shape;85;p18"/>
          <p:cNvGraphicFramePr/>
          <p:nvPr/>
        </p:nvGraphicFramePr>
        <p:xfrm>
          <a:off x="952500" y="1094225"/>
          <a:ext cx="7239000" cy="3941004"/>
        </p:xfrm>
        <a:graphic>
          <a:graphicData uri="http://schemas.openxmlformats.org/drawingml/2006/table">
            <a:tbl>
              <a:tblPr>
                <a:noFill/>
                <a:tableStyleId>{45AFCD4C-C9FB-49A6-9865-79948F1D44E9}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66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Sl. No</a:t>
                      </a:r>
                      <a:endParaRPr sz="1200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91425" marB="91425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Title</a:t>
                      </a:r>
                      <a:endParaRPr sz="12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91425" marB="91425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Publication Year</a:t>
                      </a:r>
                      <a:endParaRPr sz="12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91425" marB="91425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Description</a:t>
                      </a:r>
                      <a:endParaRPr sz="12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91425" marB="91425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Drawback</a:t>
                      </a:r>
                      <a:endParaRPr sz="12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91425" marB="91425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03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2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How AI and NASA Can Help Gardeners Lacking a Green Thumb</a:t>
                      </a:r>
                      <a:endParaRPr sz="12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2023</a:t>
                      </a:r>
                      <a:endParaRPr sz="12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The article discusses advancements in AI and NASA-inspired technologies that facilitate indoor gardening for individuals without gardening expertise.</a:t>
                      </a:r>
                      <a:endParaRPr sz="12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While highlighting technological aids, it does not specifically address the needs of users with disabilities or incorporate comprehensive IoT integration for personalized plant care, which our project aims to provide.</a:t>
                      </a:r>
                      <a:endParaRPr sz="1200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6" name="Google Shape;86;p18"/>
          <p:cNvSpPr txBox="1"/>
          <p:nvPr/>
        </p:nvSpPr>
        <p:spPr>
          <a:xfrm>
            <a:off x="738100" y="482375"/>
            <a:ext cx="7044000" cy="5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Literature Surveys</a:t>
            </a:r>
            <a:endParaRPr sz="25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1" name="Google Shape;91;p19"/>
          <p:cNvGraphicFramePr/>
          <p:nvPr>
            <p:extLst>
              <p:ext uri="{D42A27DB-BD31-4B8C-83A1-F6EECF244321}">
                <p14:modId xmlns:p14="http://schemas.microsoft.com/office/powerpoint/2010/main" val="4184449275"/>
              </p:ext>
            </p:extLst>
          </p:nvPr>
        </p:nvGraphicFramePr>
        <p:xfrm>
          <a:off x="930918" y="685523"/>
          <a:ext cx="7239000" cy="3547842"/>
        </p:xfrm>
        <a:graphic>
          <a:graphicData uri="http://schemas.openxmlformats.org/drawingml/2006/table">
            <a:tbl>
              <a:tblPr>
                <a:noFill/>
                <a:tableStyleId>{45AFCD4C-C9FB-49A6-9865-79948F1D44E9}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</a:t>
                      </a:r>
                      <a:endParaRPr sz="12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Patent US11631243B2</a:t>
                      </a:r>
                      <a:endParaRPr sz="12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2023</a:t>
                      </a:r>
                      <a:endParaRPr sz="12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This patent presents an IoT-based indoor gardening system with remote monitoring capabilities, allowing users to oversee plant health via mobile devices.</a:t>
                      </a:r>
                      <a:endParaRPr sz="12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While offering remote monitoring, it may not provide real-time adaptive responses to environmental changes or integrate with AI-driven analytics for proactive plant care, features central to our project.</a:t>
                      </a:r>
                      <a:endParaRPr sz="1200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6" name="Google Shape;96;p20"/>
          <p:cNvGraphicFramePr/>
          <p:nvPr>
            <p:extLst>
              <p:ext uri="{D42A27DB-BD31-4B8C-83A1-F6EECF244321}">
                <p14:modId xmlns:p14="http://schemas.microsoft.com/office/powerpoint/2010/main" val="923071954"/>
              </p:ext>
            </p:extLst>
          </p:nvPr>
        </p:nvGraphicFramePr>
        <p:xfrm>
          <a:off x="963264" y="122848"/>
          <a:ext cx="7239000" cy="4894725"/>
        </p:xfrm>
        <a:graphic>
          <a:graphicData uri="http://schemas.openxmlformats.org/drawingml/2006/table">
            <a:tbl>
              <a:tblPr>
                <a:noFill/>
                <a:tableStyleId>{45AFCD4C-C9FB-49A6-9865-79948F1D44E9}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552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3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Visual Impairment Spatial Awareness System for Indoor Navigation and Daily Activities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2023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The study introduces a system employing image sensors to aid individuals with visual impairments in indoor navigation and daily tasks.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The system focuses on spatial awareness and navigation rather than integrating with indoor gardening systems to assist in plant care activities.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94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4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Smart Indoor Gardens That Make Gardening Easy and Accessible with Their Automated Tech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2021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This article reviews various smart indoor garden products that utilize automation to simplify plant care for users.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While these products offer automation, they may not be specifically designed with accessibility features for users with disabilities, an aspect central to our project's mission.</a:t>
                      </a:r>
                      <a:endParaRPr sz="1100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" name="Google Shape;101;p21"/>
          <p:cNvGraphicFramePr/>
          <p:nvPr>
            <p:extLst>
              <p:ext uri="{D42A27DB-BD31-4B8C-83A1-F6EECF244321}">
                <p14:modId xmlns:p14="http://schemas.microsoft.com/office/powerpoint/2010/main" val="269352679"/>
              </p:ext>
            </p:extLst>
          </p:nvPr>
        </p:nvGraphicFramePr>
        <p:xfrm>
          <a:off x="924790" y="83127"/>
          <a:ext cx="7332519" cy="4978230"/>
        </p:xfrm>
        <a:graphic>
          <a:graphicData uri="http://schemas.openxmlformats.org/drawingml/2006/table">
            <a:tbl>
              <a:tblPr>
                <a:noFill/>
                <a:tableStyleId>{45AFCD4C-C9FB-49A6-9865-79948F1D44E9}</a:tableStyleId>
              </a:tblPr>
              <a:tblGrid>
                <a:gridCol w="11672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24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00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25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82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5</a:t>
                      </a:r>
                      <a:endParaRPr sz="1100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Patent US10925219B2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2021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This patent outlines a smart indoor garden that automates watering and lighting using IoT sensors to maintain ideal conditions for plants.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The focus is primarily on automation without addressing user accessibility features, such as accommodations for individuals with visual impairments, which our project includes.</a:t>
                      </a:r>
                      <a:endParaRPr sz="1100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588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6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Gardening Tools and Equipment for the Blind or Visually Impaired</a:t>
                      </a:r>
                      <a:endParaRPr sz="1100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2021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This resource provides guidance on adaptive gardening tools and techniques to assist individuals with visual impairments in engaging with gardening activities.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The solutions are primarily manual adaptations and do not incorporate smart technologies or automation to facilitate independent indoor gardening for visually impaired users.</a:t>
                      </a:r>
                      <a:endParaRPr sz="1100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6" name="Google Shape;106;p22"/>
          <p:cNvGraphicFramePr/>
          <p:nvPr>
            <p:extLst>
              <p:ext uri="{D42A27DB-BD31-4B8C-83A1-F6EECF244321}">
                <p14:modId xmlns:p14="http://schemas.microsoft.com/office/powerpoint/2010/main" val="363828098"/>
              </p:ext>
            </p:extLst>
          </p:nvPr>
        </p:nvGraphicFramePr>
        <p:xfrm>
          <a:off x="855518" y="83794"/>
          <a:ext cx="7394863" cy="4975733"/>
        </p:xfrm>
        <a:graphic>
          <a:graphicData uri="http://schemas.openxmlformats.org/drawingml/2006/table">
            <a:tbl>
              <a:tblPr>
                <a:noFill/>
                <a:tableStyleId>{45AFCD4C-C9FB-49A6-9865-79948F1D44E9}</a:tableStyleId>
              </a:tblPr>
              <a:tblGrid>
                <a:gridCol w="1132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7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84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941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17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20576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7</a:t>
                      </a:r>
                      <a:endParaRPr sz="1200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Patent KR20200057831A</a:t>
                      </a:r>
                      <a:endParaRPr sz="12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2020</a:t>
                      </a:r>
                      <a:endParaRPr sz="12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This patent describes an indoor gardening system utilizing IoT technology to monitor and control environmental factors for optimal plant growth</a:t>
                      </a:r>
                      <a:endParaRPr sz="12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The system may lack advanced AI integration for predictive analysis and personalized plant care recommendations, which our project aims to incorporate.</a:t>
                      </a:r>
                      <a:endParaRPr sz="12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945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8</a:t>
                      </a:r>
                      <a:endParaRPr sz="12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Designing Sensory Gardens for Children with Disabilities in the UK</a:t>
                      </a:r>
                      <a:endParaRPr sz="12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2019</a:t>
                      </a:r>
                      <a:endParaRPr sz="12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This work discusses the principles of creating sensory gardens tailored for children with disabilities, highlighting the importance of accessibility and sensory stimulation.</a:t>
                      </a:r>
                      <a:endParaRPr sz="12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The design principles are applied to outdoor settings and do not leverage IoT technologies for indoor gardening solutions, limiting year-round usability.</a:t>
                      </a:r>
                      <a:endParaRPr sz="1200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1" name="Google Shape;111;p23"/>
          <p:cNvGraphicFramePr/>
          <p:nvPr/>
        </p:nvGraphicFramePr>
        <p:xfrm>
          <a:off x="952500" y="67675"/>
          <a:ext cx="7239000" cy="4799778"/>
        </p:xfrm>
        <a:graphic>
          <a:graphicData uri="http://schemas.openxmlformats.org/drawingml/2006/table">
            <a:tbl>
              <a:tblPr>
                <a:noFill/>
                <a:tableStyleId>{45AFCD4C-C9FB-49A6-9865-79948F1D44E9}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9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Gardening Ideas for People with Vision Loss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2019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The article offers creative strategies to make gardening more accessible for individuals experiencing vision loss, focusing on tactile and sensory approaches.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It lacks integration with IoT systems that can provide real-time feedback and automated care, which are features designed into our indoor gardening solution.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10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BRAC University Thesis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2008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The thesis explores the design of sensory gardens for children with disabilities, emphasizing the therapeutic benefits of gardening.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The study focuses on outdoor sensory gardens without incorporating IoT or smart technologies for indoor environments, which are integral to our project's design.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>
                <a:latin typeface="Verdana"/>
                <a:ea typeface="Verdana"/>
                <a:cs typeface="Verdana"/>
                <a:sym typeface="Verdana"/>
              </a:rPr>
              <a:t>Problem Statement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7" name="Google Shape;117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Exclusion of Visually Impaired Individuals</a:t>
            </a:r>
            <a:endParaRPr sz="16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Current indoor gardening systems rely on visual interfaces, creating barriers for visually impaired users.</a:t>
            </a:r>
            <a:endParaRPr sz="1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Limited Functionality of Existing Solutions</a:t>
            </a:r>
            <a:endParaRPr sz="16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Most systems focus solely on basic plant care tasks like watering and light monitoring, neglecting advanced plant health insights and additional features.</a:t>
            </a:r>
            <a:endParaRPr sz="1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High Cost of Existing Systems</a:t>
            </a:r>
            <a:endParaRPr sz="16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Dependence on expensive hardware makes these systems unaffordable for many users.</a:t>
            </a:r>
            <a:endParaRPr sz="16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5"/>
          <p:cNvSpPr txBox="1">
            <a:spLocks noGrp="1"/>
          </p:cNvSpPr>
          <p:nvPr>
            <p:ph type="body" idx="1"/>
          </p:nvPr>
        </p:nvSpPr>
        <p:spPr>
          <a:xfrm>
            <a:off x="311700" y="630382"/>
            <a:ext cx="8520600" cy="39384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Lack of Personal Security Integration</a:t>
            </a:r>
            <a:endParaRPr sz="1600" b="1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Current systems do not offer features like motion detection or safety alerts, which could enhance usability for visually impaired individuals.</a:t>
            </a:r>
            <a:endParaRPr sz="16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Need for an Inclusive Solution</a:t>
            </a:r>
            <a:endParaRPr sz="1600" b="1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 system that is </a:t>
            </a:r>
            <a:r>
              <a:rPr lang="en" sz="16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affordable, accessible, and multifunctional</a:t>
            </a:r>
            <a:r>
              <a:rPr lang="en" sz="16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, integrating IoT and AI to provide advanced plant health monitoring, real-time feedback, and personal security features.</a:t>
            </a:r>
            <a:endParaRPr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Verdana"/>
                <a:ea typeface="Verdana"/>
                <a:cs typeface="Verdana"/>
                <a:sym typeface="Verdana"/>
              </a:rPr>
              <a:t>Methodology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9" name="Google Shape;129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Verdana"/>
              <a:buAutoNum type="arabicPeriod"/>
            </a:pPr>
            <a:r>
              <a:rPr lang="en" sz="1700" b="1">
                <a:latin typeface="Verdana"/>
                <a:ea typeface="Verdana"/>
                <a:cs typeface="Verdana"/>
                <a:sym typeface="Verdana"/>
              </a:rPr>
              <a:t>Modules and Functionalities</a:t>
            </a:r>
            <a:endParaRPr sz="1700" b="1">
              <a:latin typeface="Verdana"/>
              <a:ea typeface="Verdana"/>
              <a:cs typeface="Verdana"/>
              <a:sym typeface="Verdana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" sz="15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Sensor Network Integration:</a:t>
            </a:r>
            <a:r>
              <a:rPr lang="en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Real-time monitoring of environmental conditions using soil moisture sensors, light sensors (LDR), temperature and humidity sensors (DHT22), pH sensors, and water level sensors.</a:t>
            </a:r>
            <a:endParaRPr sz="1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Verdana"/>
              <a:buAutoNum type="alphaLcPeriod"/>
            </a:pPr>
            <a:r>
              <a:rPr lang="en" sz="15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Automation Control:</a:t>
            </a:r>
            <a:endParaRPr sz="15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13716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Verdana"/>
              <a:buChar char="●"/>
            </a:pPr>
            <a:r>
              <a:rPr lang="en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Automated irrigation system triggered by soil moisture levels.</a:t>
            </a:r>
            <a:endParaRPr sz="1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13716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Verdana"/>
              <a:buChar char="●"/>
            </a:pPr>
            <a:r>
              <a:rPr lang="en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Water reservoir monitoring and pump activation using the water level sensor and DC motor.</a:t>
            </a:r>
            <a:endParaRPr sz="1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Verdana"/>
              <a:buAutoNum type="alphaLcPeriod"/>
            </a:pPr>
            <a:r>
              <a:rPr lang="en" sz="15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Plant Growth and Health Monitoring:</a:t>
            </a:r>
            <a:endParaRPr sz="15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13716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Verdana"/>
              <a:buChar char="●"/>
            </a:pPr>
            <a:r>
              <a:rPr lang="en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Image capture using ESP32-CAM.</a:t>
            </a:r>
            <a:endParaRPr sz="1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13716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Verdana"/>
              <a:buChar char="●"/>
            </a:pPr>
            <a:r>
              <a:rPr lang="en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Analysis via AI model to detect decay, diseases, and growth stages.</a:t>
            </a:r>
            <a:endParaRPr sz="1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7"/>
          <p:cNvSpPr txBox="1">
            <a:spLocks noGrp="1"/>
          </p:cNvSpPr>
          <p:nvPr>
            <p:ph type="body" idx="1"/>
          </p:nvPr>
        </p:nvSpPr>
        <p:spPr>
          <a:xfrm>
            <a:off x="311700" y="523050"/>
            <a:ext cx="8520600" cy="431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Verdana"/>
                <a:ea typeface="Verdana"/>
                <a:cs typeface="Verdana"/>
                <a:sym typeface="Verdana"/>
              </a:rPr>
              <a:t>2. Algorithms</a:t>
            </a:r>
            <a:endParaRPr b="1"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15864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74"/>
              <a:buFont typeface="Verdana"/>
              <a:buAutoNum type="alphaLcPeriod"/>
            </a:pPr>
            <a:r>
              <a:rPr lang="en" sz="1374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Image-Based Plant Health Analysis:</a:t>
            </a:r>
            <a:endParaRPr sz="1374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914400" lvl="0" indent="-31586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74"/>
              <a:buFont typeface="Verdana"/>
              <a:buChar char="●"/>
            </a:pPr>
            <a:r>
              <a:rPr lang="en" sz="1374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Pre-trained convolutional neural network (CNN) for detecting changes in plant health.</a:t>
            </a:r>
            <a:endParaRPr sz="1374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914400" lvl="0" indent="-31586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74"/>
              <a:buFont typeface="Verdana"/>
              <a:buChar char="●"/>
            </a:pPr>
            <a:r>
              <a:rPr lang="en" sz="1374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Time-series analysis for monitoring growth trends (leaf size, color).</a:t>
            </a:r>
            <a:endParaRPr sz="1374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1586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74"/>
              <a:buFont typeface="Verdana"/>
              <a:buAutoNum type="alphaLcPeriod"/>
            </a:pPr>
            <a:r>
              <a:rPr lang="en" sz="1374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Threshold-Based Automation:</a:t>
            </a:r>
            <a:endParaRPr sz="1374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914400" lvl="0" indent="-31586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74"/>
              <a:buFont typeface="Verdana"/>
              <a:buChar char="●"/>
            </a:pPr>
            <a:r>
              <a:rPr lang="en" sz="1374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Predefined moisture levels trigger pump activation.</a:t>
            </a:r>
            <a:endParaRPr sz="1374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914400" lvl="0" indent="-31586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74"/>
              <a:buFont typeface="Verdana"/>
              <a:buChar char="●"/>
            </a:pPr>
            <a:r>
              <a:rPr lang="en" sz="1374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pH level adjustments based on detected soil acidity/alkalinity.</a:t>
            </a:r>
            <a:endParaRPr sz="1374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3. Protocols:</a:t>
            </a:r>
            <a:endParaRPr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●"/>
            </a:pPr>
            <a:r>
              <a:rPr lang="en" sz="14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IoT Communication:</a:t>
            </a:r>
            <a:endParaRPr sz="14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○"/>
            </a:pPr>
            <a:r>
              <a:rPr lang="en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Data transmission via MQTT between ESP32 devices and the Blynk app.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●"/>
            </a:pPr>
            <a:r>
              <a:rPr lang="en" sz="14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AI Deployment Protocol:</a:t>
            </a:r>
            <a:endParaRPr sz="14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○"/>
            </a:pPr>
            <a:r>
              <a:rPr lang="en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Model inference executed on a cloud platform for computational efficiency.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Verdana"/>
                <a:ea typeface="Verdana"/>
                <a:cs typeface="Verdana"/>
                <a:sym typeface="Verdana"/>
              </a:rPr>
              <a:t>Data Collection Approaches/Strategies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0" name="Google Shape;140;p28"/>
          <p:cNvSpPr txBox="1">
            <a:spLocks noGrp="1"/>
          </p:cNvSpPr>
          <p:nvPr>
            <p:ph type="body" idx="1"/>
          </p:nvPr>
        </p:nvSpPr>
        <p:spPr>
          <a:xfrm>
            <a:off x="311700" y="1157200"/>
            <a:ext cx="8520600" cy="34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AutoNum type="arabicPeriod"/>
            </a:pPr>
            <a:r>
              <a:rPr lang="en" sz="14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Approach:</a:t>
            </a:r>
            <a:endParaRPr sz="14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9144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Sensor Data: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Real-time environmental data (moisture, temperature, light, pH, water level) collected via ESP32-connected sensors.</a:t>
            </a:r>
            <a:endParaRPr sz="1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9144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Image Data: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Periodic plant images captured by ESP32-CAM and sent to the AI model for analysis.</a:t>
            </a:r>
            <a:endParaRPr sz="1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AutoNum type="arabicPeriod"/>
            </a:pPr>
            <a:r>
              <a:rPr lang="en" sz="14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Advantage of Strategy:</a:t>
            </a:r>
            <a:endParaRPr sz="14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9144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High Accuracy and Efficiency: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Sensors provide precise measurements, minimizing errors.</a:t>
            </a:r>
            <a:endParaRPr sz="1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9144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Real-Time Updates: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Immediate detection of anomalies like low moisture or unhealthy plant conditions.</a:t>
            </a:r>
            <a:endParaRPr sz="1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9144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User Accessibility: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Voice-readout features ensure inclusivity for visually impaired users.</a:t>
            </a:r>
            <a:endParaRPr sz="1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1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9"/>
          <p:cNvSpPr txBox="1">
            <a:spLocks noGrp="1"/>
          </p:cNvSpPr>
          <p:nvPr>
            <p:ph type="body" idx="1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3.  Limitation of Strategy:</a:t>
            </a:r>
            <a:endParaRPr sz="15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914400" lvl="0" indent="-3238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Sensor Dependency:</a:t>
            </a:r>
            <a:r>
              <a:rPr lang="en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Inconsistent or faulty sensors can result in inaccurate readings.</a:t>
            </a:r>
            <a:endParaRPr sz="1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9144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Network Reliance:</a:t>
            </a:r>
            <a:r>
              <a:rPr lang="en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Requires stable internet connectivity for seamless data transmission to the cloud and Blynk app.</a:t>
            </a:r>
            <a:endParaRPr sz="1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9144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AI Model Bias:</a:t>
            </a:r>
            <a:r>
              <a:rPr lang="en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Trained models may not generalize to all plant types or environmental conditions.</a:t>
            </a:r>
            <a:endParaRPr sz="1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4.  Potential Risk:</a:t>
            </a:r>
            <a:endParaRPr sz="15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Hardware Malfunctions:</a:t>
            </a:r>
            <a:r>
              <a:rPr lang="en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Issues with sensors or pumps could lead to water wastage or plant damage.</a:t>
            </a:r>
            <a:endParaRPr sz="1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Data Loss:</a:t>
            </a:r>
            <a:r>
              <a:rPr lang="en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In case of connectivity interruptions, sensor data may not sync with the app.</a:t>
            </a:r>
            <a:endParaRPr sz="22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Verdana"/>
                <a:ea typeface="Verdana"/>
                <a:cs typeface="Verdana"/>
                <a:sym typeface="Verdana"/>
              </a:rPr>
              <a:t>Proposed System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1" name="Google Shape;151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Objective:</a:t>
            </a:r>
            <a:endParaRPr sz="13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proposed system focuses on creating an </a:t>
            </a:r>
            <a:r>
              <a:rPr lang="en" sz="13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automated and affordable indoor gardening solution</a:t>
            </a:r>
            <a:r>
              <a:rPr lang="en" sz="1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tailored to the needs of visually impaired individuals.</a:t>
            </a:r>
            <a:endParaRPr sz="1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Key Features:</a:t>
            </a:r>
            <a:endParaRPr sz="13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914400" lvl="1" indent="-3111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Verdana"/>
              <a:buChar char="○"/>
            </a:pPr>
            <a:r>
              <a:rPr lang="en" sz="1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Real-time monitoring of environmental conditions (soil moisture, pH, temperature, etc.) using IoT sensors.</a:t>
            </a:r>
            <a:endParaRPr sz="1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Verdana"/>
              <a:buChar char="○"/>
            </a:pPr>
            <a:r>
              <a:rPr lang="en" sz="1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Automated irrigation and fertilization based on soil health.</a:t>
            </a:r>
            <a:endParaRPr sz="1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Verdana"/>
              <a:buChar char="○"/>
            </a:pPr>
            <a:r>
              <a:rPr lang="en" sz="1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Growth and health analysis using image-based AI models.</a:t>
            </a:r>
            <a:endParaRPr sz="1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Inclusive Design:</a:t>
            </a:r>
            <a:r>
              <a:rPr lang="en" sz="1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Voice-based alerts and vibration notifications for accessibility.</a:t>
            </a:r>
            <a:endParaRPr sz="1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Goal:</a:t>
            </a:r>
            <a:br>
              <a:rPr lang="en" sz="13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" sz="1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To provide a </a:t>
            </a:r>
            <a:r>
              <a:rPr lang="en" sz="13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user-friendly and sustainable</a:t>
            </a:r>
            <a:r>
              <a:rPr lang="en" sz="1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system ensuring plant growth with minimal human intervention.</a:t>
            </a:r>
            <a:endParaRPr sz="1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0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Verdana"/>
                <a:ea typeface="Verdana"/>
                <a:cs typeface="Verdana"/>
                <a:sym typeface="Verdana"/>
              </a:rPr>
              <a:t>Architecture Diagram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7" name="Google Shape;157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58" name="Google Shape;158;p31"/>
          <p:cNvSpPr txBox="1"/>
          <p:nvPr/>
        </p:nvSpPr>
        <p:spPr>
          <a:xfrm>
            <a:off x="461456" y="277898"/>
            <a:ext cx="6083700" cy="24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9" name="Google Shape;159;p31"/>
          <p:cNvPicPr preferRelativeResize="0"/>
          <p:nvPr/>
        </p:nvPicPr>
        <p:blipFill rotWithShape="1">
          <a:blip r:embed="rId3">
            <a:alphaModFix/>
          </a:blip>
          <a:srcRect t="8185" b="5918"/>
          <a:stretch/>
        </p:blipFill>
        <p:spPr>
          <a:xfrm>
            <a:off x="152400" y="1152475"/>
            <a:ext cx="8839201" cy="3945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Verdana"/>
                <a:ea typeface="Verdana"/>
                <a:cs typeface="Verdana"/>
                <a:sym typeface="Verdana"/>
              </a:rPr>
              <a:t>List of Modules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5" name="Google Shape;165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Sensor Module</a:t>
            </a:r>
            <a:r>
              <a:rPr lang="en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 Collects environmental data (moisture, pH, temperature, etc.).</a:t>
            </a:r>
            <a:endParaRPr sz="1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Control Module</a:t>
            </a:r>
            <a:r>
              <a:rPr lang="en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 Automates irrigation, fertilization, and other actions.</a:t>
            </a:r>
            <a:endParaRPr sz="1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Monitoring Module</a:t>
            </a:r>
            <a:r>
              <a:rPr lang="en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 Real-time data monitoring via the Blynk app.</a:t>
            </a:r>
            <a:endParaRPr sz="1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Image Analysis Module</a:t>
            </a:r>
            <a:r>
              <a:rPr lang="en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 AI-based plant growth and health detection using ESP32-CAM.</a:t>
            </a:r>
            <a:endParaRPr sz="1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Alert Module</a:t>
            </a:r>
            <a:r>
              <a:rPr lang="en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 Provides voice/vibration alerts to users for system updates.</a:t>
            </a:r>
            <a:endParaRPr sz="1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2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Verdana"/>
                <a:ea typeface="Verdana"/>
                <a:cs typeface="Verdana"/>
                <a:sym typeface="Verdana"/>
              </a:rPr>
              <a:t>Sensor Module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71" name="Google Shape;171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Function:</a:t>
            </a:r>
            <a:endParaRPr sz="15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Verdana"/>
              <a:buChar char="●"/>
            </a:pPr>
            <a:r>
              <a:rPr lang="en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Collects real-time data on moisture, pH, temperature, light intensity, and water levels.</a:t>
            </a:r>
            <a:endParaRPr sz="1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Verdana"/>
              <a:buChar char="●"/>
            </a:pPr>
            <a:r>
              <a:rPr lang="en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Ensures accurate environmental monitoring to maintain optimal plant health.</a:t>
            </a:r>
            <a:endParaRPr sz="1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Algorithm:</a:t>
            </a:r>
            <a:endParaRPr sz="15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Threshold-Based Monitoring:</a:t>
            </a:r>
            <a:r>
              <a:rPr lang="en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Compares sensor data with predefined limits to decide actions (e.g., turn on/off pump).</a:t>
            </a:r>
            <a:endParaRPr sz="1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2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Verdana"/>
                <a:ea typeface="Verdana"/>
                <a:cs typeface="Verdana"/>
                <a:sym typeface="Verdana"/>
              </a:rPr>
              <a:t>Control Module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77" name="Google Shape;177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Function:</a:t>
            </a:r>
            <a:endParaRPr sz="15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Verdana"/>
              <a:buChar char="●"/>
            </a:pPr>
            <a:r>
              <a:rPr lang="en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Automates the irrigation system based on soil moisture levels.</a:t>
            </a:r>
            <a:endParaRPr sz="1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Verdana"/>
              <a:buChar char="●"/>
            </a:pPr>
            <a:r>
              <a:rPr lang="en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Dispenses fertilizer/pesticide as needed based on pH values.</a:t>
            </a:r>
            <a:endParaRPr sz="1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Algorithm:</a:t>
            </a:r>
            <a:endParaRPr sz="15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Verdana"/>
              <a:buChar char="●"/>
            </a:pPr>
            <a:r>
              <a:rPr lang="en" sz="15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If-Else Logic:</a:t>
            </a:r>
            <a:endParaRPr sz="15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Verdana"/>
              <a:buChar char="○"/>
            </a:pPr>
            <a:r>
              <a:rPr lang="en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 soil moisture &lt; threshold, pump = ON.</a:t>
            </a:r>
            <a:endParaRPr sz="1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Verdana"/>
              <a:buChar char="○"/>
            </a:pPr>
            <a:r>
              <a:rPr lang="en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 pH &lt; optimal range, dispense fertilizer.</a:t>
            </a:r>
            <a:endParaRPr sz="1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2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Verdana"/>
                <a:ea typeface="Verdana"/>
                <a:cs typeface="Verdana"/>
                <a:sym typeface="Verdana"/>
              </a:rPr>
              <a:t>Monitoring Module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3" name="Google Shape;183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Function:</a:t>
            </a:r>
            <a:endParaRPr sz="15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Verdana"/>
              <a:buChar char="●"/>
            </a:pPr>
            <a:r>
              <a:rPr lang="en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Displays sensor data and system status on the Blynk app.</a:t>
            </a:r>
            <a:endParaRPr sz="1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Verdana"/>
              <a:buChar char="●"/>
            </a:pPr>
            <a:r>
              <a:rPr lang="en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Provides real-time updates on plant health and system activities.</a:t>
            </a:r>
            <a:endParaRPr sz="1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Blynk Integration:</a:t>
            </a:r>
            <a:endParaRPr sz="15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Verdana"/>
              <a:buChar char="●"/>
            </a:pPr>
            <a:r>
              <a:rPr lang="en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Uses ESP32’s Wi-Fi capabilities to send data to the Blynk cloud for visualization.</a:t>
            </a:r>
            <a:endParaRPr sz="1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2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Verdana"/>
                <a:ea typeface="Verdana"/>
                <a:cs typeface="Verdana"/>
                <a:sym typeface="Verdana"/>
              </a:rPr>
              <a:t>Image Analysis Module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9" name="Google Shape;189;p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Function:</a:t>
            </a:r>
            <a:endParaRPr sz="15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Verdana"/>
              <a:buChar char="●"/>
            </a:pPr>
            <a:r>
              <a:rPr lang="en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Uses images captured by ESP32-CAM to monitor plant health and growth.</a:t>
            </a:r>
            <a:endParaRPr sz="1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Verdana"/>
              <a:buChar char="●"/>
            </a:pPr>
            <a:r>
              <a:rPr lang="en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Detects issues like yellowing leaves or pests using AI models.</a:t>
            </a:r>
            <a:endParaRPr sz="1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Algorithm:</a:t>
            </a:r>
            <a:endParaRPr sz="15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Verdana"/>
              <a:buChar char="●"/>
            </a:pPr>
            <a:r>
              <a:rPr lang="en" sz="15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Convolutional Neural Network (CNN):</a:t>
            </a:r>
            <a:endParaRPr sz="15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Verdana"/>
              <a:buChar char="○"/>
            </a:pPr>
            <a:r>
              <a:rPr lang="en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Processes images for identifying visual symptoms of plant diseases.</a:t>
            </a:r>
            <a:endParaRPr sz="1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Verdana"/>
              <a:buChar char="○"/>
            </a:pPr>
            <a:r>
              <a:rPr lang="en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Outputs health status (Healthy/Unhealthy) and recommends actions.</a:t>
            </a:r>
            <a:endParaRPr sz="1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2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Verdana"/>
                <a:ea typeface="Verdana"/>
                <a:cs typeface="Verdana"/>
                <a:sym typeface="Verdana"/>
              </a:rPr>
              <a:t>Alert Module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5" name="Google Shape;195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Function:</a:t>
            </a:r>
            <a:endParaRPr sz="15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Verdana"/>
              <a:buChar char="●"/>
            </a:pPr>
            <a:r>
              <a:rPr lang="en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Provides accessibility-friendly notifications via:</a:t>
            </a:r>
            <a:endParaRPr sz="1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Voice Alerts</a:t>
            </a:r>
            <a:r>
              <a:rPr lang="en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 Audible updates on plant status and system actions.</a:t>
            </a:r>
            <a:endParaRPr sz="1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Vibrations</a:t>
            </a:r>
            <a:r>
              <a:rPr lang="en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 Immediate tactile feedback for critical conditions (e.g., low water levels).</a:t>
            </a:r>
            <a:endParaRPr sz="1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Integration:</a:t>
            </a:r>
            <a:endParaRPr sz="15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Verdana"/>
              <a:buChar char="●"/>
            </a:pPr>
            <a:r>
              <a:rPr lang="en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Alerts generated in the Blynk app and communicated to users.</a:t>
            </a:r>
            <a:endParaRPr sz="1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2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Verdana"/>
                <a:ea typeface="Verdana"/>
                <a:cs typeface="Verdana"/>
                <a:sym typeface="Verdana"/>
              </a:rPr>
              <a:t>Next steps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01" name="Google Shape;201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Verdana"/>
              <a:buChar char="●"/>
            </a:pPr>
            <a:r>
              <a:rPr lang="en" sz="15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Hardware Implementation</a:t>
            </a:r>
            <a:r>
              <a:rPr lang="en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</a:t>
            </a:r>
            <a:endParaRPr sz="1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Integrating all hardware components, including ESP32 microcontroller, and essential sensors for soil monitoring and establishing efficient communication between the ESP32, sensors, and actuators like the DC motor with a water pump for automated watering.</a:t>
            </a:r>
            <a:endParaRPr sz="1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Verdana"/>
              <a:buChar char="●"/>
            </a:pPr>
            <a:r>
              <a:rPr lang="en" sz="15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Real-time analysis of plant health</a:t>
            </a:r>
            <a:endParaRPr sz="15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Implementing AI-based plant health analysis model by processing images captured by the ESP32-CAM to detect decay, diseases, and growth stages of the plant.</a:t>
            </a:r>
            <a:endParaRPr sz="1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9"/>
          <p:cNvSpPr txBox="1">
            <a:spLocks noGrp="1"/>
          </p:cNvSpPr>
          <p:nvPr>
            <p:ph type="body" idx="1"/>
          </p:nvPr>
        </p:nvSpPr>
        <p:spPr>
          <a:xfrm>
            <a:off x="311700" y="854175"/>
            <a:ext cx="8520600" cy="371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Verdana"/>
              <a:buChar char="●"/>
            </a:pPr>
            <a:r>
              <a:rPr lang="en" sz="15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Mobile Application Integration</a:t>
            </a:r>
            <a:endParaRPr sz="15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Developing the Blynk-based IoT app to display real-time updates on plant growth and health and enabling voice-readout functionality</a:t>
            </a:r>
            <a:r>
              <a:rPr lang="en" sz="15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and</a:t>
            </a:r>
            <a:r>
              <a:rPr lang="en" sz="15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vibration-based notifications for visually impaired users to ensure inclusivity.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Paper Status</a:t>
            </a:r>
            <a:endParaRPr/>
          </a:p>
        </p:txBody>
      </p:sp>
      <p:sp>
        <p:nvSpPr>
          <p:cNvPr id="212" name="Google Shape;212;p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Literature Review Completed</a:t>
            </a:r>
            <a:endParaRPr sz="15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Verdana"/>
              <a:buChar char="●"/>
            </a:pPr>
            <a:r>
              <a:rPr lang="en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Conducted an in-depth review of existing IoT-based plant monitoring systems and accessibility solutions for visually impaired individuals to identify research gaps and establish a foundation for the study.</a:t>
            </a:r>
            <a:endParaRPr sz="1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Software Simulation</a:t>
            </a:r>
            <a:endParaRPr sz="15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Verdana"/>
              <a:buChar char="●"/>
            </a:pPr>
            <a:r>
              <a:rPr lang="en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Designed a comprehensive system architecture and validated its feasibility through simulations using an IoT-based online simulation platform.</a:t>
            </a:r>
            <a:endParaRPr sz="1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Hardware Components Analysis</a:t>
            </a:r>
            <a:endParaRPr sz="15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Verdana"/>
              <a:buChar char="●"/>
            </a:pPr>
            <a:r>
              <a:rPr lang="en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Performed a detailed analysis of the hardware components necessary to build the system, ensuring compatibility, cost-effectiveness, and optimal functionality.</a:t>
            </a:r>
            <a:endParaRPr sz="15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2010</Words>
  <Application>Microsoft Office PowerPoint</Application>
  <PresentationFormat>On-screen Show (16:9)</PresentationFormat>
  <Paragraphs>205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Verdana</vt:lpstr>
      <vt:lpstr>Simple Light</vt:lpstr>
      <vt:lpstr>Affordable automated indoor plant monitoring system for visually impaired</vt:lpstr>
      <vt:lpstr>Introduction</vt:lpstr>
      <vt:lpstr>Background </vt:lpstr>
      <vt:lpstr>Context </vt:lpstr>
      <vt:lpstr>Significance of the Study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Problem Statement </vt:lpstr>
      <vt:lpstr>PowerPoint Presentation</vt:lpstr>
      <vt:lpstr>Methodology</vt:lpstr>
      <vt:lpstr>PowerPoint Presentation</vt:lpstr>
      <vt:lpstr>Data Collection Approaches/Strategies</vt:lpstr>
      <vt:lpstr>PowerPoint Presentation</vt:lpstr>
      <vt:lpstr>Proposed System</vt:lpstr>
      <vt:lpstr>Architecture Diagram</vt:lpstr>
      <vt:lpstr>List of Modules</vt:lpstr>
      <vt:lpstr>Sensor Module</vt:lpstr>
      <vt:lpstr>Control Module</vt:lpstr>
      <vt:lpstr>Monitoring Module</vt:lpstr>
      <vt:lpstr>Image Analysis Module</vt:lpstr>
      <vt:lpstr>Alert Module</vt:lpstr>
      <vt:lpstr>Next steps</vt:lpstr>
      <vt:lpstr>PowerPoint Presentation</vt:lpstr>
      <vt:lpstr>Research Paper Status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Affordable automated indoor plant monitoring system for visually impaired</dc:title>
  <cp:lastModifiedBy>Anjana S A</cp:lastModifiedBy>
  <cp:revision>2</cp:revision>
  <dcterms:modified xsi:type="dcterms:W3CDTF">2025-01-24T12:40:27Z</dcterms:modified>
</cp:coreProperties>
</file>